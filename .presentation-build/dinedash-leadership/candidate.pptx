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9c6bdd0a8a47a2" /><Relationship Type="http://schemas.openxmlformats.org/officeDocument/2006/relationships/extended-properties" Target="/docProps/app.xml" Id="Rdfcba14e0ed34cc3" /><Relationship Type="http://schemas.openxmlformats.org/officeDocument/2006/relationships/officeDocument" Target="/ppt/presentation.xml" Id="Rcac52e80c9e841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f079f171994b58"/>
  </p:sldMasterIdLst>
  <p:notesMasterIdLst>
    <p:notesMasterId xmlns:r="http://schemas.openxmlformats.org/officeDocument/2006/relationships" r:id="R609bda5daa7244c8"/>
  </p:notesMasterIdLst>
  <p:sldIdLst>
    <p:sldId xmlns:r="http://schemas.openxmlformats.org/officeDocument/2006/relationships" id="256" r:id="R1629d7c8b18949e4"/>
    <p:sldId xmlns:r="http://schemas.openxmlformats.org/officeDocument/2006/relationships" id="257" r:id="R7dc7e500b42a434d"/>
    <p:sldId xmlns:r="http://schemas.openxmlformats.org/officeDocument/2006/relationships" id="258" r:id="R458e827496284eb7"/>
    <p:sldId xmlns:r="http://schemas.openxmlformats.org/officeDocument/2006/relationships" id="259" r:id="Raeae191d94504865"/>
    <p:sldId xmlns:r="http://schemas.openxmlformats.org/officeDocument/2006/relationships" id="260" r:id="R9d79187e6c0f480c"/>
    <p:sldId xmlns:r="http://schemas.openxmlformats.org/officeDocument/2006/relationships" id="261" r:id="R762a878455444c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b91fbbcb3a4757" /><Relationship Type="http://schemas.openxmlformats.org/officeDocument/2006/relationships/slideMaster" Target="/ppt/slideMasters/slideMaster1.xml" Id="Rd3f079f171994b58" /><Relationship Type="http://schemas.openxmlformats.org/officeDocument/2006/relationships/notesMaster" Target="/ppt/notesMasters/notesMaster1.xml" Id="R609bda5daa7244c8" /><Relationship Type="http://schemas.openxmlformats.org/officeDocument/2006/relationships/presProps" Target="/ppt/presProps.xml" Id="R6ef96486f23d4309" /><Relationship Type="http://schemas.openxmlformats.org/officeDocument/2006/relationships/tableStyles" Target="/ppt/tableStyles.xml" Id="R0956ea46dd724dea" /><Relationship Type="http://schemas.openxmlformats.org/officeDocument/2006/relationships/slide" Target="/ppt/slides/slide1.xml" Id="R1629d7c8b18949e4" /><Relationship Type="http://schemas.openxmlformats.org/officeDocument/2006/relationships/slide" Target="/ppt/slides/slide2.xml" Id="R7dc7e500b42a434d" /><Relationship Type="http://schemas.openxmlformats.org/officeDocument/2006/relationships/slide" Target="/ppt/slides/slide3.xml" Id="R458e827496284eb7" /><Relationship Type="http://schemas.openxmlformats.org/officeDocument/2006/relationships/slide" Target="/ppt/slides/slide4.xml" Id="Raeae191d94504865" /><Relationship Type="http://schemas.openxmlformats.org/officeDocument/2006/relationships/slide" Target="/ppt/slides/slide5.xml" Id="R9d79187e6c0f480c" /><Relationship Type="http://schemas.openxmlformats.org/officeDocument/2006/relationships/slide" Target="/ppt/slides/slide6.xml" Id="R762a878455444c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578885416249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5465937f374519" /><Relationship Type="http://schemas.openxmlformats.org/officeDocument/2006/relationships/notesMaster" Target="/ppt/notesMasters/notesMaster1.xml" Id="R60ccc9a60a3645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617d9eb75d43b1" /><Relationship Type="http://schemas.openxmlformats.org/officeDocument/2006/relationships/notesMaster" Target="/ppt/notesMasters/notesMaster1.xml" Id="Ra87c49b4dc7040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458938adbe4180" /><Relationship Type="http://schemas.openxmlformats.org/officeDocument/2006/relationships/notesMaster" Target="/ppt/notesMasters/notesMaster1.xml" Id="R9038da10910e4e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2988b2adb4410e" /><Relationship Type="http://schemas.openxmlformats.org/officeDocument/2006/relationships/notesMaster" Target="/ppt/notesMasters/notesMaster1.xml" Id="R585beae18fdd49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b239fe1cbc482b" /><Relationship Type="http://schemas.openxmlformats.org/officeDocument/2006/relationships/notesMaster" Target="/ppt/notesMasters/notesMaster1.xml" Id="R1fdd856c610446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274149fb924c71" /><Relationship Type="http://schemas.openxmlformats.org/officeDocument/2006/relationships/notesMaster" Target="/ppt/notesMasters/notesMaster1.xml" Id="Re82abbe19b3a4a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problem framing, not a measured claim about Georgia Tech students. The prototype addresses the effort of translating published menus into portions and keeping a record of consumption. No student survey or adoption study has established the size of this problem. Invite Dining leadership to assess whether this matches student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Dine&amp;Dash is a student-built prototype, not an official Georgia Tech Dining product or approved nutrition service. The code currently supports Brittain, North Ave, and West Village. It uses published Nutrislice menu data. Sources: backend/app/nutrislice.py, frontend/src/App.tsx, backend/app/recommendations.py.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 uses a deterministic beam-search optimizer, not a trained AI model. It searches up to four items with several portion sizes and scores calorie fit, protein/fiber shortfalls, fat, sodium, and category variety. Current meal weights and the calorie cap are developer-selected heuristics that need dietitian review. Current diet/allergy filters have limitations and do not establish allergen safety or halal certification. Sources: backend/app/recommendations.py:36-131, backend/app/planning.py:34-40, backend/app/main.py:148-172.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Alternatives retain saved diet/allergy filters and recalculate portions around the meal target. The app does not know real-time station inventory. Current-menu search uses the current hall/date/service and published nutrition. Configured regular opening hours may differ on holidays or exceptional closures. Sources: frontend/src/ExtraFoods.tsx, frontend/src/App.tsx, backend/app/planning.py:14-21, backend/app/meals.py, backend/app/recommendations.py:153-186.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Registration/login associates goals and meal history with individual accounts. The user icon opens My progress. Logging remains explicit, not automatic. Historical menus may be unavailable; the backend rejects missing/demo historical data instead of substituting current foods. All journal date/time boundaries use America/New_York. Older meals change their original day/week, not today’s budget. Sources: frontend/src/MealHistory.tsx, frontend/src/PastMeal.tsx, backend/app/meals.py, backend/app/planning.py:24-40, AUTHENTICATION.md.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proposes collaboration; it does not imply an existing partnership, committed pilot, or measured student outcomes. Ask whether Dining would be interested in a product demonstration and review of data accuracy and nutrition assumptions. Before wider deployment, address account recovery, email verification, privacy/consent, and operational support. Sources for current limitations: AUTHENTICATION.md and backend/app/recommendations.py.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e92307e1b747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8cabd5809a4251" /><Relationship Type="http://schemas.openxmlformats.org/officeDocument/2006/relationships/slideLayout" Target="/ppt/slideLayouts/slideLayout1.xml" Id="Rf24f77237bcd4a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4f77237bcd4a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fb61ffa9a4ee2" /><Relationship Type="http://schemas.openxmlformats.org/officeDocument/2006/relationships/notesSlide" Target="/ppt/notesSlides/notesSlide1.xml" Id="R8246eed65c8142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df5c458b14809" /><Relationship Type="http://schemas.openxmlformats.org/officeDocument/2006/relationships/notesSlide" Target="/ppt/notesSlides/notesSlide2.xml" Id="Re318633047a74a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1143f3f4e4341" /><Relationship Type="http://schemas.openxmlformats.org/officeDocument/2006/relationships/notesSlide" Target="/ppt/notesSlides/notesSlide3.xml" Id="R9498dfe2f97047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6aaa373ef48be" /><Relationship Type="http://schemas.openxmlformats.org/officeDocument/2006/relationships/notesSlide" Target="/ppt/notesSlides/notesSlide4.xml" Id="R5b81169e50ce44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81f200b8347cc" /><Relationship Type="http://schemas.openxmlformats.org/officeDocument/2006/relationships/notesSlide" Target="/ppt/notesSlides/notesSlide5.xml" Id="R05eb98e5ab1e43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f65e78a97482e" /><Relationship Type="http://schemas.openxmlformats.org/officeDocument/2006/relationships/notesSlide" Target="/ppt/notesSlides/notesSlide6.xml" Id="R2fbdc07bccdc4f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1E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HE STUDENT PROBLEM">
            <a:extLst xmlns:a="http://schemas.openxmlformats.org/drawingml/2006/main">
              <a:ext uri="{FF2B5EF4-FFF2-40B4-BE49-F238E27FC236}">
                <a16:creationId xmlns:a16="http://schemas.microsoft.com/office/drawing/2014/main" id="{37B85CEE-CF05-4ADC-8499-6F6D1C4A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6A9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6A96B"/>
                </a:solidFill>
                <a:latin typeface="Helvetica Neue"/>
                <a:ea typeface="Helvetica Neue"/>
                <a:cs typeface="Helvetica Neue"/>
              </a:rPr>
              <a:t>THE STUDENT PROBLEM</a:t>
            </a:r>
          </a:p>
        </p:txBody>
      </p:sp>
      <p:sp>
        <p:nvSpPr>
          <p:cNvPr id="2" name="Choosing a meal&#10;takes more than&#10;reading a men">
            <a:extLst xmlns:a="http://schemas.openxmlformats.org/drawingml/2006/main">
              <a:ext uri="{FF2B5EF4-FFF2-40B4-BE49-F238E27FC236}">
                <a16:creationId xmlns:a16="http://schemas.microsoft.com/office/drawing/2014/main" id="{FBEF8B87-FC3C-4D9F-98C2-AE528F7E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19225"/>
            <a:ext cx="105727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6F4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6F4EE"/>
                </a:solidFill>
                <a:latin typeface="Helvetica Neue"/>
                <a:ea typeface="Helvetica Neue"/>
                <a:cs typeface="Helvetica Neue"/>
              </a:rPr>
              <a:t>Choosing a meal</a:t>
            </a:r>
          </a:p>
          <a:p xmlns:a="http://schemas.openxmlformats.org/drawingml/2006/main">
            <a:pPr>
              <a:defRPr sz="5700" b="1">
                <a:solidFill>
                  <a:srgbClr val="F6F4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6F4EE"/>
                </a:solidFill>
                <a:latin typeface="Helvetica Neue"/>
                <a:ea typeface="Helvetica Neue"/>
                <a:cs typeface="Helvetica Neue"/>
              </a:rPr>
              <a:t>takes more than</a:t>
            </a:r>
          </a:p>
          <a:p xmlns:a="http://schemas.openxmlformats.org/drawingml/2006/main">
            <a:pPr>
              <a:defRPr sz="5700" b="1">
                <a:solidFill>
                  <a:srgbClr val="F6F4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F6F4EE"/>
                </a:solidFill>
                <a:latin typeface="Helvetica Neue"/>
                <a:ea typeface="Helvetica Neue"/>
                <a:cs typeface="Helvetica Neue"/>
              </a:rPr>
              <a:t>reading a menu</a:t>
            </a:r>
          </a:p>
        </p:txBody>
      </p:sp>
      <p:sp>
        <p:nvSpPr>
          <p:cNvPr id="3" name="Students must connect changing dining-hall op">
            <a:extLst xmlns:a="http://schemas.openxmlformats.org/drawingml/2006/main">
              <a:ext uri="{FF2B5EF4-FFF2-40B4-BE49-F238E27FC236}">
                <a16:creationId xmlns:a16="http://schemas.microsoft.com/office/drawing/2014/main" id="{0DF6E83B-9061-4412-91C5-4CDD33B1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rPr>
              <a:t>Students must connect changing dining-hall options</a:t>
            </a:r>
          </a:p>
          <a:p xmlns:a="http://schemas.openxmlformats.org/drawingml/2006/main">
            <a:pPr>
              <a:defRPr sz="240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rPr>
              <a:t>with their personal goals and what they already ate.</a:t>
            </a:r>
          </a:p>
        </p:txBody>
      </p:sp>
      <p:sp>
        <p:nvSpPr>
          <p:cNvPr id="4" name="Dine&amp;Dash     01">
            <a:extLst xmlns:a="http://schemas.openxmlformats.org/drawingml/2006/main">
              <a:ext uri="{FF2B5EF4-FFF2-40B4-BE49-F238E27FC236}">
                <a16:creationId xmlns:a16="http://schemas.microsoft.com/office/drawing/2014/main" id="{D0EE994E-051E-48CA-89D8-4A93563B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rPr>
              <a:t>Dine&amp;Dash     01</a:t>
            </a:r>
          </a:p>
        </p:txBody>
      </p:sp>
    </p:spTree>
    <p:extLst>
      <p:ext uri="{BB962C8B-B14F-4D97-AF65-F5344CB8AC3E}">
        <p14:creationId xmlns:p14="http://schemas.microsoft.com/office/powerpoint/2010/main" val="689395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HE SOLUTION">
            <a:extLst xmlns:a="http://schemas.openxmlformats.org/drawingml/2006/main">
              <a:ext uri="{FF2B5EF4-FFF2-40B4-BE49-F238E27FC236}">
                <a16:creationId xmlns:a16="http://schemas.microsoft.com/office/drawing/2014/main" id="{AB749DCE-3184-4A52-9920-AC1A5D9C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779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7796F"/>
                </a:solidFill>
                <a:latin typeface="Helvetica Neue"/>
                <a:ea typeface="Helvetica Neue"/>
                <a:cs typeface="Helvetica Neue"/>
              </a:rPr>
              <a:t>THE SOLUTION</a:t>
            </a:r>
          </a:p>
        </p:txBody>
      </p:sp>
      <p:sp>
        <p:nvSpPr>
          <p:cNvPr id="2" name="Dine&amp;Dash">
            <a:extLst xmlns:a="http://schemas.openxmlformats.org/drawingml/2006/main">
              <a:ext uri="{FF2B5EF4-FFF2-40B4-BE49-F238E27FC236}">
                <a16:creationId xmlns:a16="http://schemas.microsoft.com/office/drawing/2014/main" id="{A1ED1BAA-CF49-4ADF-BF6E-64785B54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051E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051E39"/>
                </a:solidFill>
                <a:latin typeface="Helvetica Neue"/>
                <a:ea typeface="Helvetica Neue"/>
                <a:cs typeface="Helvetica Neue"/>
              </a:rPr>
              <a:t>Dine&amp;Dash</a:t>
            </a:r>
          </a:p>
        </p:txBody>
      </p:sp>
      <p:sp>
        <p:nvSpPr>
          <p:cNvPr id="3" name="A personal meal planner&#10;for campus dining">
            <a:extLst xmlns:a="http://schemas.openxmlformats.org/drawingml/2006/main">
              <a:ext uri="{FF2B5EF4-FFF2-40B4-BE49-F238E27FC236}">
                <a16:creationId xmlns:a16="http://schemas.microsoft.com/office/drawing/2014/main" id="{6B484816-557D-41ED-8886-A12EE942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2225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0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102B43"/>
                </a:solidFill>
                <a:latin typeface="Helvetica Neue"/>
                <a:ea typeface="Helvetica Neue"/>
                <a:cs typeface="Helvetica Neue"/>
              </a:rPr>
              <a:t>A personal meal planner</a:t>
            </a:r>
          </a:p>
          <a:p xmlns:a="http://schemas.openxmlformats.org/drawingml/2006/main">
            <a:pPr>
              <a:defRPr sz="3600" b="0">
                <a:solidFill>
                  <a:srgbClr val="10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102B43"/>
                </a:solidFill>
                <a:latin typeface="Helvetica Neue"/>
                <a:ea typeface="Helvetica Neue"/>
                <a:cs typeface="Helvetica Neue"/>
              </a:rPr>
              <a:t>for campus dining</a:t>
            </a:r>
          </a:p>
        </p:txBody>
      </p:sp>
      <p:sp>
        <p:nvSpPr>
          <p:cNvPr id="4" name="Students choose a hall, get a suggested plate">
            <a:extLst xmlns:a="http://schemas.openxmlformats.org/drawingml/2006/main">
              <a:ext uri="{FF2B5EF4-FFF2-40B4-BE49-F238E27FC236}">
                <a16:creationId xmlns:a16="http://schemas.microsoft.com/office/drawing/2014/main" id="{16681B86-9304-4D32-B9B0-038D4BF2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9906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rPr>
              <a:t>Students choose a hall, get a suggested plate,</a:t>
            </a:r>
          </a:p>
          <a:p xmlns:a="http://schemas.openxmlformats.org/drawingml/2006/main">
            <a:pPr>
              <a:defRPr sz="2400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rPr>
              <a:t>and track the meals they actually eat.</a:t>
            </a:r>
          </a:p>
        </p:txBody>
      </p:sp>
      <p:sp>
        <p:nvSpPr>
          <p:cNvPr id="5" name="Current prototype: Brittain, North Ave and We">
            <a:extLst xmlns:a="http://schemas.openxmlformats.org/drawingml/2006/main">
              <a:ext uri="{FF2B5EF4-FFF2-40B4-BE49-F238E27FC236}">
                <a16:creationId xmlns:a16="http://schemas.microsoft.com/office/drawing/2014/main" id="{A0B6B47B-6DA4-4973-9BF5-CA3AF4AE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779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796F"/>
                </a:solidFill>
                <a:latin typeface="Helvetica Neue"/>
                <a:ea typeface="Helvetica Neue"/>
                <a:cs typeface="Helvetica Neue"/>
              </a:rPr>
              <a:t>Current prototype: Brittain, North Ave and West Village</a:t>
            </a:r>
          </a:p>
        </p:txBody>
      </p:sp>
      <p:sp>
        <p:nvSpPr>
          <p:cNvPr id="6" name="Dine&amp;Dash     02">
            <a:extLst xmlns:a="http://schemas.openxmlformats.org/drawingml/2006/main">
              <a:ext uri="{FF2B5EF4-FFF2-40B4-BE49-F238E27FC236}">
                <a16:creationId xmlns:a16="http://schemas.microsoft.com/office/drawing/2014/main" id="{AF1EAB11-D082-4FA1-9860-B02EA9F1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rPr>
              <a:t>Dine&amp;Dash     02</a:t>
            </a:r>
          </a:p>
        </p:txBody>
      </p:sp>
    </p:spTree>
    <p:extLst>
      <p:ext uri="{BB962C8B-B14F-4D97-AF65-F5344CB8AC3E}">
        <p14:creationId xmlns:p14="http://schemas.microsoft.com/office/powerpoint/2010/main" val="1078002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 plate tailored to the current meal">
            <a:extLst xmlns:a="http://schemas.openxmlformats.org/drawingml/2006/main">
              <a:ext uri="{FF2B5EF4-FFF2-40B4-BE49-F238E27FC236}">
                <a16:creationId xmlns:a16="http://schemas.microsoft.com/office/drawing/2014/main" id="{BCE0A973-F7DC-4E5E-BDA8-9FCFEF5D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51E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51E39"/>
                </a:solidFill>
                <a:latin typeface="Helvetica Neue"/>
                <a:ea typeface="Helvetica Neue"/>
                <a:cs typeface="Helvetica Neue"/>
              </a:rPr>
              <a:t>A plate tailored to the current meal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933DA2F1-5466-4CED-8F39-73CA996C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4779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47796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Personal goals">
            <a:extLst xmlns:a="http://schemas.openxmlformats.org/drawingml/2006/main">
              <a:ext uri="{FF2B5EF4-FFF2-40B4-BE49-F238E27FC236}">
                <a16:creationId xmlns:a16="http://schemas.microsoft.com/office/drawing/2014/main" id="{30E9E189-0701-41D7-92B5-C11430F3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03835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B43"/>
                </a:solidFill>
                <a:latin typeface="Helvetica Neue"/>
                <a:ea typeface="Helvetica Neue"/>
                <a:cs typeface="Helvetica Neue"/>
              </a:rPr>
              <a:t>Personal goals</a:t>
            </a:r>
          </a:p>
        </p:txBody>
      </p:sp>
      <p:sp>
        <p:nvSpPr>
          <p:cNvPr id="4" name="Saved calorie goals, dietary preferences and ">
            <a:extLst xmlns:a="http://schemas.openxmlformats.org/drawingml/2006/main">
              <a:ext uri="{FF2B5EF4-FFF2-40B4-BE49-F238E27FC236}">
                <a16:creationId xmlns:a16="http://schemas.microsoft.com/office/drawing/2014/main" id="{FB29A420-075A-48A3-BBD1-089FB919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050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rPr>
              <a:t>Saved calorie goals, dietary preferences and allergy filters.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C99C8B00-DD72-4BEB-9085-41A39747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4779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47796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Hall and service">
            <a:extLst xmlns:a="http://schemas.openxmlformats.org/drawingml/2006/main">
              <a:ext uri="{FF2B5EF4-FFF2-40B4-BE49-F238E27FC236}">
                <a16:creationId xmlns:a16="http://schemas.microsoft.com/office/drawing/2014/main" id="{EF6D27CF-DA10-464B-979A-B2865F46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23850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B43"/>
                </a:solidFill>
                <a:latin typeface="Helvetica Neue"/>
                <a:ea typeface="Helvetica Neue"/>
                <a:cs typeface="Helvetica Neue"/>
              </a:rPr>
              <a:t>Hall and service</a:t>
            </a:r>
          </a:p>
        </p:txBody>
      </p:sp>
      <p:sp>
        <p:nvSpPr>
          <p:cNvPr id="7" name="Published menu items for the selected hall an">
            <a:extLst xmlns:a="http://schemas.openxmlformats.org/drawingml/2006/main">
              <a:ext uri="{FF2B5EF4-FFF2-40B4-BE49-F238E27FC236}">
                <a16:creationId xmlns:a16="http://schemas.microsoft.com/office/drawing/2014/main" id="{C144F40C-E112-478F-9B07-865B7C1A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70522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rPr>
              <a:t>Published menu items for the selected hall and current meal.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3128B2D1-724D-4198-9E5F-0CCA76FC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4779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47796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Food and portions">
            <a:extLst xmlns:a="http://schemas.openxmlformats.org/drawingml/2006/main">
              <a:ext uri="{FF2B5EF4-FFF2-40B4-BE49-F238E27FC236}">
                <a16:creationId xmlns:a16="http://schemas.microsoft.com/office/drawing/2014/main" id="{E492CC3F-82A3-45C4-8189-F2064A30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438650"/>
            <a:ext cx="900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B43"/>
                </a:solidFill>
                <a:latin typeface="Helvetica Neue"/>
                <a:ea typeface="Helvetica Neue"/>
                <a:cs typeface="Helvetica Neue"/>
              </a:rPr>
              <a:t>Food and portions</a:t>
            </a:r>
          </a:p>
        </p:txBody>
      </p:sp>
      <p:sp>
        <p:nvSpPr>
          <p:cNvPr id="10" name="A rule-based search compares combinations aga">
            <a:extLst xmlns:a="http://schemas.openxmlformats.org/drawingml/2006/main">
              <a:ext uri="{FF2B5EF4-FFF2-40B4-BE49-F238E27FC236}">
                <a16:creationId xmlns:a16="http://schemas.microsoft.com/office/drawing/2014/main" id="{8E342B8E-356E-4EF1-BD35-8766769D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9053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rPr>
              <a:t>A rule-based search compares combinations against nutrition targets.</a:t>
            </a:r>
          </a:p>
        </p:txBody>
      </p:sp>
      <p:sp>
        <p:nvSpPr>
          <p:cNvPr id="11" name="Dine&amp;Dash     03">
            <a:extLst xmlns:a="http://schemas.openxmlformats.org/drawingml/2006/main">
              <a:ext uri="{FF2B5EF4-FFF2-40B4-BE49-F238E27FC236}">
                <a16:creationId xmlns:a16="http://schemas.microsoft.com/office/drawing/2014/main" id="{80743D1D-ADD8-4AFB-BA10-C07A6A5E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rPr>
              <a:t>Dine&amp;Dash     03</a:t>
            </a:r>
          </a:p>
        </p:txBody>
      </p:sp>
    </p:spTree>
    <p:extLst>
      <p:ext uri="{BB962C8B-B14F-4D97-AF65-F5344CB8AC3E}">
        <p14:creationId xmlns:p14="http://schemas.microsoft.com/office/powerpoint/2010/main" val="306853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1E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lexibility when plans change">
            <a:extLst xmlns:a="http://schemas.openxmlformats.org/drawingml/2006/main">
              <a:ext uri="{FF2B5EF4-FFF2-40B4-BE49-F238E27FC236}">
                <a16:creationId xmlns:a16="http://schemas.microsoft.com/office/drawing/2014/main" id="{AFE93D9D-1262-4453-88D7-B86B4251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6F4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825" b="1">
                <a:solidFill>
                  <a:srgbClr val="F6F4EE"/>
                </a:solidFill>
                <a:latin typeface="Helvetica Neue"/>
                <a:ea typeface="Helvetica Neue"/>
                <a:cs typeface="Helvetica Neue"/>
              </a:rPr>
              <a:t>Flexibility when plans change</a:t>
            </a:r>
          </a:p>
        </p:txBody>
      </p:sp>
      <p:sp>
        <p:nvSpPr>
          <p:cNvPr id="2" name="Food unavailable?">
            <a:extLst xmlns:a="http://schemas.openxmlformats.org/drawingml/2006/main">
              <a:ext uri="{FF2B5EF4-FFF2-40B4-BE49-F238E27FC236}">
                <a16:creationId xmlns:a16="http://schemas.microsoft.com/office/drawing/2014/main" id="{1FD43D71-5199-482A-8CFD-0970D519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4810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6A9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C6A96B"/>
                </a:solidFill>
                <a:latin typeface="Helvetica Neue"/>
                <a:ea typeface="Helvetica Neue"/>
                <a:cs typeface="Helvetica Neue"/>
              </a:rPr>
              <a:t>Food unavailable?</a:t>
            </a:r>
          </a:p>
        </p:txBody>
      </p:sp>
      <p:sp>
        <p:nvSpPr>
          <p:cNvPr id="3" name="Mark an item unavailable.&#10;The app rebuilds th">
            <a:extLst xmlns:a="http://schemas.openxmlformats.org/drawingml/2006/main">
              <a:ext uri="{FF2B5EF4-FFF2-40B4-BE49-F238E27FC236}">
                <a16:creationId xmlns:a16="http://schemas.microsoft.com/office/drawing/2014/main" id="{4E4B3FDD-128A-4825-B946-35AFB4F0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48101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6F4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6F4EE"/>
                </a:solidFill>
                <a:latin typeface="Helvetica Neue"/>
                <a:ea typeface="Helvetica Neue"/>
                <a:cs typeface="Helvetica Neue"/>
              </a:rPr>
              <a:t>Mark an item unavailable.</a:t>
            </a:r>
          </a:p>
          <a:p xmlns:a="http://schemas.openxmlformats.org/drawingml/2006/main">
            <a:pPr>
              <a:defRPr sz="2325" b="0">
                <a:solidFill>
                  <a:srgbClr val="F6F4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6F4EE"/>
                </a:solidFill>
                <a:latin typeface="Helvetica Neue"/>
                <a:ea typeface="Helvetica Neue"/>
                <a:cs typeface="Helvetica Neue"/>
              </a:rPr>
              <a:t>The app rebuilds the plate</a:t>
            </a:r>
          </a:p>
          <a:p xmlns:a="http://schemas.openxmlformats.org/drawingml/2006/main">
            <a:pPr>
              <a:defRPr sz="2325" b="0">
                <a:solidFill>
                  <a:srgbClr val="F6F4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6F4EE"/>
                </a:solidFill>
                <a:latin typeface="Helvetica Neue"/>
                <a:ea typeface="Helvetica Neue"/>
                <a:cs typeface="Helvetica Neue"/>
              </a:rPr>
              <a:t>without that food.</a:t>
            </a:r>
          </a:p>
        </p:txBody>
      </p:sp>
      <p:sp>
        <p:nvSpPr>
          <p:cNvPr id="4" name="Ate something else?">
            <a:extLst xmlns:a="http://schemas.openxmlformats.org/drawingml/2006/main">
              <a:ext uri="{FF2B5EF4-FFF2-40B4-BE49-F238E27FC236}">
                <a16:creationId xmlns:a16="http://schemas.microsoft.com/office/drawing/2014/main" id="{3A5C18E6-51A7-4B38-B7BA-34C5A0E3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33600"/>
            <a:ext cx="4857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6A9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C6A96B"/>
                </a:solidFill>
                <a:latin typeface="Helvetica Neue"/>
                <a:ea typeface="Helvetica Neue"/>
                <a:cs typeface="Helvetica Neue"/>
              </a:rPr>
              <a:t>Ate something else?</a:t>
            </a:r>
          </a:p>
        </p:txBody>
      </p:sp>
      <p:sp>
        <p:nvSpPr>
          <p:cNvPr id="5" name="Search the hall’s current menu,&#10;choose portio">
            <a:extLst xmlns:a="http://schemas.openxmlformats.org/drawingml/2006/main">
              <a:ext uri="{FF2B5EF4-FFF2-40B4-BE49-F238E27FC236}">
                <a16:creationId xmlns:a16="http://schemas.microsoft.com/office/drawing/2014/main" id="{8B98654E-ED49-49CF-B76E-9437FB79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24175"/>
            <a:ext cx="4857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6F4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6F4EE"/>
                </a:solidFill>
                <a:latin typeface="Helvetica Neue"/>
                <a:ea typeface="Helvetica Neue"/>
                <a:cs typeface="Helvetica Neue"/>
              </a:rPr>
              <a:t>Search the hall’s current menu,</a:t>
            </a:r>
          </a:p>
          <a:p xmlns:a="http://schemas.openxmlformats.org/drawingml/2006/main">
            <a:pPr>
              <a:defRPr sz="2325" b="0">
                <a:solidFill>
                  <a:srgbClr val="F6F4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6F4EE"/>
                </a:solidFill>
                <a:latin typeface="Helvetica Neue"/>
                <a:ea typeface="Helvetica Neue"/>
                <a:cs typeface="Helvetica Neue"/>
              </a:rPr>
              <a:t>choose portions and add</a:t>
            </a:r>
          </a:p>
          <a:p xmlns:a="http://schemas.openxmlformats.org/drawingml/2006/main">
            <a:pPr>
              <a:defRPr sz="2325" b="0">
                <a:solidFill>
                  <a:srgbClr val="F6F4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6F4EE"/>
                </a:solidFill>
                <a:latin typeface="Helvetica Neue"/>
                <a:ea typeface="Helvetica Neue"/>
                <a:cs typeface="Helvetica Neue"/>
              </a:rPr>
              <a:t>what you actually ate.</a:t>
            </a:r>
          </a:p>
        </p:txBody>
      </p:sp>
      <p:sp>
        <p:nvSpPr>
          <p:cNvPr id="6" name="The app disables plate building when configur">
            <a:extLst xmlns:a="http://schemas.openxmlformats.org/drawingml/2006/main">
              <a:ext uri="{FF2B5EF4-FFF2-40B4-BE49-F238E27FC236}">
                <a16:creationId xmlns:a16="http://schemas.microsoft.com/office/drawing/2014/main" id="{ECF73090-E4ED-4BB5-836B-C6252C38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rPr>
              <a:t>The app disables plate building when configured hall hours show it is closed.</a:t>
            </a:r>
          </a:p>
        </p:txBody>
      </p:sp>
      <p:sp>
        <p:nvSpPr>
          <p:cNvPr id="7" name="Dine&amp;Dash     04">
            <a:extLst xmlns:a="http://schemas.openxmlformats.org/drawingml/2006/main">
              <a:ext uri="{FF2B5EF4-FFF2-40B4-BE49-F238E27FC236}">
                <a16:creationId xmlns:a16="http://schemas.microsoft.com/office/drawing/2014/main" id="{5E2833B6-9526-4F55-9637-D8EE7659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rPr>
              <a:t>Dine&amp;Dash     04</a:t>
            </a:r>
          </a:p>
        </p:txBody>
      </p:sp>
    </p:spTree>
    <p:extLst>
      <p:ext uri="{BB962C8B-B14F-4D97-AF65-F5344CB8AC3E}">
        <p14:creationId xmlns:p14="http://schemas.microsoft.com/office/powerpoint/2010/main" val="1098413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 food journal that stays connected">
            <a:extLst xmlns:a="http://schemas.openxmlformats.org/drawingml/2006/main">
              <a:ext uri="{FF2B5EF4-FFF2-40B4-BE49-F238E27FC236}">
                <a16:creationId xmlns:a16="http://schemas.microsoft.com/office/drawing/2014/main" id="{D640AF33-69A1-429D-A00C-08BDD8C6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51E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051E39"/>
                </a:solidFill>
                <a:latin typeface="Helvetica Neue"/>
                <a:ea typeface="Helvetica Neue"/>
                <a:cs typeface="Helvetica Neue"/>
              </a:rPr>
              <a:t>A food journal that stays connected</a:t>
            </a:r>
          </a:p>
        </p:txBody>
      </p:sp>
      <p:sp>
        <p:nvSpPr>
          <p:cNvPr id="2" name="Daily and weekly progress">
            <a:extLst xmlns:a="http://schemas.openxmlformats.org/drawingml/2006/main">
              <a:ext uri="{FF2B5EF4-FFF2-40B4-BE49-F238E27FC236}">
                <a16:creationId xmlns:a16="http://schemas.microsoft.com/office/drawing/2014/main" id="{D7A8C4EF-3947-448F-B20C-54872595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779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47796F"/>
                </a:solidFill>
                <a:latin typeface="Helvetica Neue"/>
                <a:ea typeface="Helvetica Neue"/>
                <a:cs typeface="Helvetica Neue"/>
              </a:rPr>
              <a:t>Daily and weekly progress</a:t>
            </a:r>
          </a:p>
        </p:txBody>
      </p:sp>
      <p:sp>
        <p:nvSpPr>
          <p:cNvPr id="3" name="The profile page shows logged meals and estim">
            <a:extLst xmlns:a="http://schemas.openxmlformats.org/drawingml/2006/main">
              <a:ext uri="{FF2B5EF4-FFF2-40B4-BE49-F238E27FC236}">
                <a16:creationId xmlns:a16="http://schemas.microsoft.com/office/drawing/2014/main" id="{CA7D1A2B-DEA1-41E7-90CF-D34441CD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B43"/>
                </a:solidFill>
                <a:latin typeface="Helvetica Neue"/>
                <a:ea typeface="Helvetica Neue"/>
                <a:cs typeface="Helvetica Neue"/>
              </a:rPr>
              <a:t>The profile page shows logged meals and estimated calories.</a:t>
            </a:r>
          </a:p>
          <a:p xmlns:a="http://schemas.openxmlformats.org/drawingml/2006/main">
            <a:pPr>
              <a:defRPr sz="2250" b="0">
                <a:solidFill>
                  <a:srgbClr val="10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B43"/>
                </a:solidFill>
                <a:latin typeface="Helvetica Neue"/>
                <a:ea typeface="Helvetica Neue"/>
                <a:cs typeface="Helvetica Neue"/>
              </a:rPr>
              <a:t>Today’s entries adjust the calorie budget for the next suggestion.</a:t>
            </a:r>
          </a:p>
        </p:txBody>
      </p:sp>
      <p:sp>
        <p:nvSpPr>
          <p:cNvPr id="4" name="Forgotten meals">
            <a:extLst xmlns:a="http://schemas.openxmlformats.org/drawingml/2006/main">
              <a:ext uri="{FF2B5EF4-FFF2-40B4-BE49-F238E27FC236}">
                <a16:creationId xmlns:a16="http://schemas.microsoft.com/office/drawing/2014/main" id="{4988C65A-C44E-449E-9E91-98A59613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096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779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47796F"/>
                </a:solidFill>
                <a:latin typeface="Helvetica Neue"/>
                <a:ea typeface="Helvetica Neue"/>
                <a:cs typeface="Helvetica Neue"/>
              </a:rPr>
              <a:t>Forgotten meals</a:t>
            </a:r>
          </a:p>
        </p:txBody>
      </p:sp>
      <p:sp>
        <p:nvSpPr>
          <p:cNvPr id="5" name="Choose breakfast, lunch or dinner, then a hal">
            <a:extLst xmlns:a="http://schemas.openxmlformats.org/drawingml/2006/main">
              <a:ext uri="{FF2B5EF4-FFF2-40B4-BE49-F238E27FC236}">
                <a16:creationId xmlns:a16="http://schemas.microsoft.com/office/drawing/2014/main" id="{37AA2171-670A-4A20-9C79-22AD298A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B43"/>
                </a:solidFill>
                <a:latin typeface="Helvetica Neue"/>
                <a:ea typeface="Helvetica Neue"/>
                <a:cs typeface="Helvetica Neue"/>
              </a:rPr>
              <a:t>Choose breakfast, lunch or dinner, then a hall, date and time.</a:t>
            </a:r>
          </a:p>
          <a:p xmlns:a="http://schemas.openxmlformats.org/drawingml/2006/main">
            <a:pPr>
              <a:defRPr sz="2250" b="0">
                <a:solidFill>
                  <a:srgbClr val="102B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02B43"/>
                </a:solidFill>
                <a:latin typeface="Helvetica Neue"/>
                <a:ea typeface="Helvetica Neue"/>
                <a:cs typeface="Helvetica Neue"/>
              </a:rPr>
              <a:t>Search that service’s historical menu and update the original day.</a:t>
            </a:r>
          </a:p>
        </p:txBody>
      </p:sp>
      <p:sp>
        <p:nvSpPr>
          <p:cNvPr id="6" name="Dine&amp;Dash     05">
            <a:extLst xmlns:a="http://schemas.openxmlformats.org/drawingml/2006/main">
              <a:ext uri="{FF2B5EF4-FFF2-40B4-BE49-F238E27FC236}">
                <a16:creationId xmlns:a16="http://schemas.microsoft.com/office/drawing/2014/main" id="{193244B8-3EF2-4D02-8EC0-A5710C5E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06477"/>
                </a:solidFill>
                <a:latin typeface="Helvetica Neue"/>
                <a:ea typeface="Helvetica Neue"/>
                <a:cs typeface="Helvetica Neue"/>
              </a:rPr>
              <a:t>Dine&amp;Dash     05</a:t>
            </a:r>
          </a:p>
        </p:txBody>
      </p:sp>
    </p:spTree>
    <p:extLst>
      <p:ext uri="{BB962C8B-B14F-4D97-AF65-F5344CB8AC3E}">
        <p14:creationId xmlns:p14="http://schemas.microsoft.com/office/powerpoint/2010/main" val="12327107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1E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 pilot with Georgia Tech Dining">
            <a:extLst xmlns:a="http://schemas.openxmlformats.org/drawingml/2006/main">
              <a:ext uri="{FF2B5EF4-FFF2-40B4-BE49-F238E27FC236}">
                <a16:creationId xmlns:a16="http://schemas.microsoft.com/office/drawing/2014/main" id="{54199CBB-77DE-4079-9588-7A080FD8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6F4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6F4EE"/>
                </a:solidFill>
                <a:latin typeface="Helvetica Neue"/>
                <a:ea typeface="Helvetica Neue"/>
                <a:cs typeface="Helvetica Neue"/>
              </a:rPr>
              <a:t>A pilot with Georgia Tech Dining</a:t>
            </a:r>
          </a:p>
        </p:txBody>
      </p:sp>
      <p:sp>
        <p:nvSpPr>
          <p:cNvPr id="2" name="Proposed next step: a small, opt-in student p">
            <a:extLst xmlns:a="http://schemas.openxmlformats.org/drawingml/2006/main">
              <a:ext uri="{FF2B5EF4-FFF2-40B4-BE49-F238E27FC236}">
                <a16:creationId xmlns:a16="http://schemas.microsoft.com/office/drawing/2014/main" id="{873328C6-6B9A-40FA-A4D7-79EA6B23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C6A9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C6A96B"/>
                </a:solidFill>
                <a:latin typeface="Helvetica Neue"/>
                <a:ea typeface="Helvetica Neue"/>
                <a:cs typeface="Helvetica Neue"/>
              </a:rPr>
              <a:t>Proposed next step: a small, opt-in student pilot</a:t>
            </a:r>
          </a:p>
        </p:txBody>
      </p:sp>
      <p:sp>
        <p:nvSpPr>
          <p:cNvPr id="3" name="Dining input">
            <a:extLst xmlns:a="http://schemas.openxmlformats.org/drawingml/2006/main">
              <a:ext uri="{FF2B5EF4-FFF2-40B4-BE49-F238E27FC236}">
                <a16:creationId xmlns:a16="http://schemas.microsoft.com/office/drawing/2014/main" id="{2DCB7C95-7231-469D-9B9A-8EA4BAD9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4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6F4EE"/>
                </a:solidFill>
                <a:latin typeface="Helvetica Neue"/>
                <a:ea typeface="Helvetica Neue"/>
                <a:cs typeface="Helvetica Neue"/>
              </a:rPr>
              <a:t>Dining input</a:t>
            </a:r>
          </a:p>
        </p:txBody>
      </p:sp>
      <p:sp>
        <p:nvSpPr>
          <p:cNvPr id="4" name="Confirm menu and hours data. Review nutrition">
            <a:extLst xmlns:a="http://schemas.openxmlformats.org/drawingml/2006/main">
              <a:ext uri="{FF2B5EF4-FFF2-40B4-BE49-F238E27FC236}">
                <a16:creationId xmlns:a16="http://schemas.microsoft.com/office/drawing/2014/main" id="{A49202E3-1E5E-4FBE-AFC8-4317B9D4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71775"/>
            <a:ext cx="716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rPr>
              <a:t>Confirm menu and hours data. Review nutrition rules</a:t>
            </a:r>
          </a:p>
          <a:p xmlns:a="http://schemas.openxmlformats.org/drawingml/2006/main">
            <a:pPr>
              <a:defRPr sz="210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rPr>
              <a:t>and allergy messaging with Dining’s nutrition team.</a:t>
            </a:r>
          </a:p>
        </p:txBody>
      </p:sp>
      <p:sp>
        <p:nvSpPr>
          <p:cNvPr id="5" name="Pilot evaluation">
            <a:extLst xmlns:a="http://schemas.openxmlformats.org/drawingml/2006/main">
              <a:ext uri="{FF2B5EF4-FFF2-40B4-BE49-F238E27FC236}">
                <a16:creationId xmlns:a16="http://schemas.microsoft.com/office/drawing/2014/main" id="{1159247A-F5E5-434E-8E00-0C665AA2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319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4E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6F4EE"/>
                </a:solidFill>
                <a:latin typeface="Helvetica Neue"/>
                <a:ea typeface="Helvetica Neue"/>
                <a:cs typeface="Helvetica Neue"/>
              </a:rPr>
              <a:t>Pilot evaluation</a:t>
            </a:r>
          </a:p>
        </p:txBody>
      </p:sp>
      <p:sp>
        <p:nvSpPr>
          <p:cNvPr id="6" name="Test ease of use, menu accuracy and whether s">
            <a:extLst xmlns:a="http://schemas.openxmlformats.org/drawingml/2006/main">
              <a:ext uri="{FF2B5EF4-FFF2-40B4-BE49-F238E27FC236}">
                <a16:creationId xmlns:a16="http://schemas.microsoft.com/office/drawing/2014/main" id="{AF223103-F656-45B6-B491-7C68DB08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0"/>
            <a:ext cx="716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rPr>
              <a:t>Test ease of use, menu accuracy and whether students</a:t>
            </a:r>
          </a:p>
          <a:p xmlns:a="http://schemas.openxmlformats.org/drawingml/2006/main">
            <a:pPr>
              <a:defRPr sz="210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rPr>
              <a:t>find the suggestions useful before expanding.</a:t>
            </a:r>
          </a:p>
        </p:txBody>
      </p:sp>
      <p:sp>
        <p:nvSpPr>
          <p:cNvPr id="7" name="Nutrition values are estimates. Published men">
            <a:extLst xmlns:a="http://schemas.openxmlformats.org/drawingml/2006/main">
              <a:ext uri="{FF2B5EF4-FFF2-40B4-BE49-F238E27FC236}">
                <a16:creationId xmlns:a16="http://schemas.microsoft.com/office/drawing/2014/main" id="{41238654-902A-4BCF-87F7-ECC37852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rPr>
              <a:t>Nutrition values are estimates. Published menus cannot guarantee station stock or allergen safety.</a:t>
            </a:r>
          </a:p>
        </p:txBody>
      </p:sp>
      <p:sp>
        <p:nvSpPr>
          <p:cNvPr id="8" name="Dine&amp;Dash     06">
            <a:extLst xmlns:a="http://schemas.openxmlformats.org/drawingml/2006/main">
              <a:ext uri="{FF2B5EF4-FFF2-40B4-BE49-F238E27FC236}">
                <a16:creationId xmlns:a16="http://schemas.microsoft.com/office/drawing/2014/main" id="{FE77EFB0-BC64-4CC0-8181-5B4C47F6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50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8C8D5"/>
                </a:solidFill>
                <a:latin typeface="Helvetica Neue"/>
                <a:ea typeface="Helvetica Neue"/>
                <a:cs typeface="Helvetica Neue"/>
              </a:rPr>
              <a:t>Dine&amp;Dash     06</a:t>
            </a:r>
          </a:p>
        </p:txBody>
      </p:sp>
    </p:spTree>
    <p:extLst>
      <p:ext uri="{BB962C8B-B14F-4D97-AF65-F5344CB8AC3E}">
        <p14:creationId xmlns:p14="http://schemas.microsoft.com/office/powerpoint/2010/main" val="1027581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2026-09-23T17:03:34.4540000Z</dcterms:created>
  <dcterms:modified xsi:type="dcterms:W3CDTF">2026-09-23T17:03:34.4540000Z</dcterms:modified>
</coreProperties>
</file>